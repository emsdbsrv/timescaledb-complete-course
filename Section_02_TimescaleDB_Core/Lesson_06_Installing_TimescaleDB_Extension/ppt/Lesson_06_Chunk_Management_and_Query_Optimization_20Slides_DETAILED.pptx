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dirty="0"/>
              <a:t>Lesson 06 – Chunk Management and Query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Introduction to TimescaleDB Chunking.</a:t>
            </a:r>
          </a:p>
          <a:p>
            <a:pPr>
              <a:defRPr sz="2400"/>
            </a:pPr>
            <a:r>
              <a:t>Chunks are internal partitions of hypertables.</a:t>
            </a:r>
          </a:p>
          <a:p>
            <a:pPr>
              <a:defRPr sz="2400"/>
            </a:pPr>
            <a:r>
              <a:t>Each chunk stores data for a time range.</a:t>
            </a:r>
          </a:p>
          <a:p>
            <a:pPr>
              <a:defRPr sz="2400"/>
            </a:pPr>
            <a:r>
              <a:t>Chunking improves scalability and query speed.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/>
            </a:pPr>
            <a:r>
              <a:rPr lang="en-US" dirty="0"/>
              <a:t>Introduction to Chunk Management in </a:t>
            </a:r>
            <a:r>
              <a:rPr lang="en-US" dirty="0" err="1"/>
              <a:t>TimescaleDB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lang="en-US" dirty="0" err="1"/>
              <a:t>TimescaleDB</a:t>
            </a:r>
            <a:r>
              <a:rPr lang="en-US" dirty="0"/>
              <a:t> is built specifically for time-series workloads.</a:t>
            </a:r>
            <a:br>
              <a:rPr lang="en-US" dirty="0"/>
            </a:br>
            <a:r>
              <a:rPr lang="en-US" dirty="0"/>
              <a:t>Time-series data continuously grows over time.</a:t>
            </a:r>
            <a:br>
              <a:rPr lang="en-US" dirty="0"/>
            </a:br>
            <a:r>
              <a:rPr lang="en-US" dirty="0"/>
              <a:t>Traditional PostgreSQL tables become inefficient at large scale.</a:t>
            </a:r>
            <a:br>
              <a:rPr lang="en-US" dirty="0"/>
            </a:br>
            <a:r>
              <a:rPr lang="en-US" dirty="0" err="1"/>
              <a:t>TimescaleDB</a:t>
            </a:r>
            <a:r>
              <a:rPr lang="en-US" dirty="0"/>
              <a:t> solves this by introducing </a:t>
            </a:r>
            <a:r>
              <a:rPr lang="en-US" dirty="0" err="1"/>
              <a:t>hypertables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Hypertables</a:t>
            </a:r>
            <a:r>
              <a:rPr lang="en-US" dirty="0"/>
              <a:t> automatically partition data by time.</a:t>
            </a:r>
            <a:br>
              <a:rPr lang="en-US" dirty="0"/>
            </a:br>
            <a:r>
              <a:rPr lang="en-US" dirty="0"/>
              <a:t>These partitions are called chunks.</a:t>
            </a:r>
            <a:br>
              <a:rPr lang="en-US" dirty="0"/>
            </a:br>
            <a:r>
              <a:rPr lang="en-US" dirty="0"/>
              <a:t>Chunk management is fundamental to performance.</a:t>
            </a:r>
            <a:br>
              <a:rPr lang="en-US" dirty="0"/>
            </a:br>
            <a:r>
              <a:rPr lang="en-US" dirty="0"/>
              <a:t>This lesson explores how chunks work internally.</a:t>
            </a:r>
            <a:br>
              <a:rPr lang="en-US" dirty="0"/>
            </a:br>
            <a:r>
              <a:rPr lang="en-US" dirty="0"/>
              <a:t>We will also analyze how chunking impacts queries and storage.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Understanding </a:t>
            </a:r>
            <a:r>
              <a:rPr lang="en-US" dirty="0" err="1"/>
              <a:t>Hypertables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lang="en-US" dirty="0"/>
              <a:t>A </a:t>
            </a:r>
            <a:r>
              <a:rPr lang="en-US" dirty="0" err="1"/>
              <a:t>hypertable</a:t>
            </a:r>
            <a:r>
              <a:rPr lang="en-US" dirty="0"/>
              <a:t> is a logical abstraction over many physical tables.</a:t>
            </a:r>
            <a:br>
              <a:rPr lang="en-US" dirty="0"/>
            </a:br>
            <a:r>
              <a:rPr lang="en-US" dirty="0"/>
              <a:t>To the user, it appears as one single table.</a:t>
            </a:r>
            <a:br>
              <a:rPr lang="en-US" dirty="0"/>
            </a:br>
            <a:r>
              <a:rPr lang="en-US" dirty="0"/>
              <a:t>Internally, it is automatically partitioned by time.</a:t>
            </a:r>
            <a:br>
              <a:rPr lang="en-US" dirty="0"/>
            </a:br>
            <a:r>
              <a:rPr lang="en-US" dirty="0"/>
              <a:t>Each partition is called a chunk.</a:t>
            </a:r>
            <a:br>
              <a:rPr lang="en-US" dirty="0"/>
            </a:br>
            <a:r>
              <a:rPr lang="en-US" dirty="0"/>
              <a:t>Chunks store a specific time range of data.</a:t>
            </a:r>
            <a:br>
              <a:rPr lang="en-US" dirty="0"/>
            </a:br>
            <a:r>
              <a:rPr lang="en-US" dirty="0"/>
              <a:t>This architecture removes manual partition management.</a:t>
            </a:r>
            <a:br>
              <a:rPr lang="en-US" dirty="0"/>
            </a:br>
            <a:r>
              <a:rPr lang="en-US" dirty="0"/>
              <a:t>It allows automatic scaling as data grows.</a:t>
            </a:r>
            <a:br>
              <a:rPr lang="en-US" dirty="0"/>
            </a:br>
            <a:r>
              <a:rPr lang="en-US" dirty="0"/>
              <a:t>It preserves full PostgreSQL compatibility.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What is a Chunk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chunk is a physical child table created automatically.</a:t>
            </a:r>
          </a:p>
          <a:p>
            <a:r>
              <a:rPr lang="en-US" dirty="0"/>
              <a:t>Each chunk stores data for a specific time interval.</a:t>
            </a:r>
            <a:br>
              <a:rPr lang="en-US" dirty="0"/>
            </a:br>
            <a:r>
              <a:rPr lang="en-US" dirty="0"/>
              <a:t>Chunks are created dynamically as new data arrives.</a:t>
            </a:r>
            <a:br>
              <a:rPr lang="en-US" dirty="0"/>
            </a:br>
            <a:r>
              <a:rPr lang="en-US" dirty="0"/>
              <a:t>Chunks improve insert performance by localizing writes.</a:t>
            </a:r>
            <a:br>
              <a:rPr lang="en-US" dirty="0"/>
            </a:br>
            <a:r>
              <a:rPr lang="en-US" dirty="0"/>
              <a:t>Chunks improve query performance via pruning.</a:t>
            </a:r>
            <a:br>
              <a:rPr lang="en-US" dirty="0"/>
            </a:br>
            <a:r>
              <a:rPr lang="en-US" dirty="0"/>
              <a:t>Chunks allow lifecycle management independently.</a:t>
            </a:r>
            <a:br>
              <a:rPr lang="en-US" dirty="0"/>
            </a:br>
            <a:r>
              <a:rPr lang="en-US" dirty="0"/>
              <a:t>Compression and retention policies operate at chunk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/>
            </a:pPr>
            <a:r>
              <a:rPr lang="en-US" dirty="0"/>
              <a:t>Why Chunking Improves Performance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400"/>
            </a:pPr>
            <a:r>
              <a:rPr lang="en-US" dirty="0"/>
              <a:t>Queries typically filter by time ranges.</a:t>
            </a:r>
            <a:br>
              <a:rPr lang="en-US" dirty="0"/>
            </a:br>
            <a:r>
              <a:rPr lang="en-US" dirty="0"/>
              <a:t>Without chunking, the entire table must be scanned.</a:t>
            </a:r>
            <a:br>
              <a:rPr lang="en-US" dirty="0"/>
            </a:br>
            <a:r>
              <a:rPr lang="en-US" dirty="0"/>
              <a:t>With chunking, only relevant chunks are scanned.</a:t>
            </a:r>
            <a:br>
              <a:rPr lang="en-US" dirty="0"/>
            </a:br>
            <a:r>
              <a:rPr lang="en-US" dirty="0"/>
              <a:t>This mechanism is called chunk exclusion.</a:t>
            </a:r>
            <a:br>
              <a:rPr lang="en-US" dirty="0"/>
            </a:br>
            <a:r>
              <a:rPr lang="en-US" dirty="0"/>
              <a:t>Chunk exclusion dramatically reduces IO cost.</a:t>
            </a:r>
            <a:br>
              <a:rPr lang="en-US" dirty="0"/>
            </a:br>
            <a:r>
              <a:rPr lang="en-US" dirty="0"/>
              <a:t>Insert operations are localized to current chunk.</a:t>
            </a:r>
            <a:br>
              <a:rPr lang="en-US" dirty="0"/>
            </a:br>
            <a:r>
              <a:rPr lang="en-US" dirty="0"/>
              <a:t>Vacuum and maintenance operations become more efficient.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Choosing the Right Chunk Interval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/>
              <a:t>Chunk interval defines how much time each chunk stores.</a:t>
            </a:r>
            <a:br>
              <a:rPr lang="en-US" dirty="0"/>
            </a:br>
            <a:r>
              <a:rPr lang="en-US" dirty="0"/>
              <a:t>Common intervals include 1 hour, 1 day, or 1 week.</a:t>
            </a:r>
            <a:br>
              <a:rPr lang="en-US" dirty="0"/>
            </a:br>
            <a:r>
              <a:rPr lang="en-US" dirty="0"/>
              <a:t>Smaller chunks improve query precision.</a:t>
            </a:r>
            <a:br>
              <a:rPr lang="en-US" dirty="0"/>
            </a:br>
            <a:r>
              <a:rPr lang="en-US" dirty="0"/>
              <a:t>Larger chunks reduce metadata overhead.</a:t>
            </a:r>
            <a:br>
              <a:rPr lang="en-US" dirty="0"/>
            </a:br>
            <a:r>
              <a:rPr lang="en-US" dirty="0"/>
              <a:t>If ingestion rate is very high, smaller intervals are preferred.</a:t>
            </a:r>
            <a:br>
              <a:rPr lang="en-US" dirty="0"/>
            </a:br>
            <a:r>
              <a:rPr lang="en-US" dirty="0"/>
              <a:t>If ingestion rate is low, larger intervals may be optimal.</a:t>
            </a:r>
            <a:br>
              <a:rPr lang="en-US" dirty="0"/>
            </a:br>
            <a:r>
              <a:rPr lang="en-US" dirty="0"/>
              <a:t>Choosing proper chunk interval is a key tuning decision.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Creating a Base Table Correctly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 err="1"/>
              <a:t>TimescaleDB</a:t>
            </a:r>
            <a:r>
              <a:rPr lang="en-US" dirty="0"/>
              <a:t> </a:t>
            </a:r>
            <a:r>
              <a:rPr lang="en-US" dirty="0" err="1"/>
              <a:t>hypertables</a:t>
            </a:r>
            <a:r>
              <a:rPr lang="en-US" dirty="0"/>
              <a:t> begin as normal PostgreSQL tables.</a:t>
            </a:r>
            <a:br>
              <a:rPr lang="en-US" dirty="0"/>
            </a:br>
            <a:r>
              <a:rPr lang="en-US" dirty="0"/>
              <a:t>The time column must be defined clearly.</a:t>
            </a:r>
            <a:br>
              <a:rPr lang="en-US" dirty="0"/>
            </a:br>
            <a:r>
              <a:rPr lang="en-US" dirty="0"/>
              <a:t>The partitioning column must be NOT NULL.</a:t>
            </a:r>
            <a:br>
              <a:rPr lang="en-US" dirty="0"/>
            </a:br>
            <a:r>
              <a:rPr lang="en-US" dirty="0"/>
              <a:t>The partitioning column must be part of the primary key.</a:t>
            </a:r>
            <a:br>
              <a:rPr lang="en-US" dirty="0"/>
            </a:br>
            <a:r>
              <a:rPr lang="en-US" dirty="0"/>
              <a:t>Failure to include it causes unique index errors.</a:t>
            </a:r>
            <a:br>
              <a:rPr lang="en-US" dirty="0"/>
            </a:br>
            <a:r>
              <a:rPr lang="en-US" dirty="0"/>
              <a:t>Composite primary keys are commonly used.</a:t>
            </a:r>
            <a:br>
              <a:rPr lang="en-US" dirty="0"/>
            </a:br>
            <a:r>
              <a:rPr lang="en-US" dirty="0"/>
              <a:t>Example: PRIMARY KEY (id, </a:t>
            </a:r>
            <a:r>
              <a:rPr lang="en-US" dirty="0" err="1"/>
              <a:t>recorded_at</a:t>
            </a:r>
            <a:r>
              <a:rPr lang="en-US" dirty="0"/>
              <a:t>).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Converting Table into </a:t>
            </a:r>
            <a:r>
              <a:rPr lang="en-US" dirty="0" err="1"/>
              <a:t>Hypertable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/>
              <a:t>The </a:t>
            </a:r>
            <a:r>
              <a:rPr lang="en-US" dirty="0" err="1"/>
              <a:t>create_hypertable</a:t>
            </a:r>
            <a:r>
              <a:rPr lang="en-US" dirty="0"/>
              <a:t>() function transforms the table.</a:t>
            </a:r>
            <a:br>
              <a:rPr lang="en-US" dirty="0"/>
            </a:br>
            <a:r>
              <a:rPr lang="en-US" dirty="0"/>
              <a:t>It registers the table with </a:t>
            </a:r>
            <a:r>
              <a:rPr lang="en-US" dirty="0" err="1"/>
              <a:t>TimescaleDB</a:t>
            </a:r>
            <a:r>
              <a:rPr lang="en-US" dirty="0"/>
              <a:t> metadata.</a:t>
            </a:r>
            <a:br>
              <a:rPr lang="en-US" dirty="0"/>
            </a:br>
            <a:r>
              <a:rPr lang="en-US" dirty="0"/>
              <a:t>It creates internal chunking configuration.</a:t>
            </a:r>
            <a:br>
              <a:rPr lang="en-US" dirty="0"/>
            </a:br>
            <a:r>
              <a:rPr lang="en-US" dirty="0"/>
              <a:t>It sets default chunk interval if not specified.</a:t>
            </a:r>
            <a:br>
              <a:rPr lang="en-US" dirty="0"/>
            </a:br>
            <a:r>
              <a:rPr lang="en-US" dirty="0"/>
              <a:t>Future inserts are automatically routed to correct chunk.</a:t>
            </a:r>
            <a:br>
              <a:rPr lang="en-US" dirty="0"/>
            </a:br>
            <a:r>
              <a:rPr lang="en-US" dirty="0"/>
              <a:t>No manual partition management is required.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/>
            </a:pPr>
            <a:r>
              <a:rPr lang="en-US" dirty="0"/>
              <a:t>Inserting High Volume Data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/>
              <a:t>We simulate ingestion using </a:t>
            </a:r>
            <a:r>
              <a:rPr lang="en-US" dirty="0" err="1"/>
              <a:t>generate_series</a:t>
            </a:r>
            <a:r>
              <a:rPr lang="en-US" dirty="0"/>
              <a:t>().</a:t>
            </a:r>
            <a:br>
              <a:rPr lang="en-US" dirty="0"/>
            </a:br>
            <a:r>
              <a:rPr lang="en-US" dirty="0"/>
              <a:t>One million rows represent production-scale ingestion.</a:t>
            </a:r>
            <a:br>
              <a:rPr lang="en-US" dirty="0"/>
            </a:br>
            <a:r>
              <a:rPr lang="en-US" dirty="0"/>
              <a:t>Random timestamps distribute data across multiple chunks.</a:t>
            </a:r>
            <a:br>
              <a:rPr lang="en-US" dirty="0"/>
            </a:br>
            <a:r>
              <a:rPr lang="en-US" dirty="0" err="1"/>
              <a:t>TimescaleDB</a:t>
            </a:r>
            <a:r>
              <a:rPr lang="en-US" dirty="0"/>
              <a:t> automatically determines chunk destination.</a:t>
            </a:r>
            <a:br>
              <a:rPr lang="en-US" dirty="0"/>
            </a:br>
            <a:r>
              <a:rPr lang="en-US" dirty="0"/>
              <a:t>Each insert is redirected internally to appropriate partition.</a:t>
            </a:r>
            <a:br>
              <a:rPr lang="en-US" dirty="0"/>
            </a:br>
            <a:r>
              <a:rPr lang="en-US" dirty="0"/>
              <a:t>This ensures scalability under high write workloads.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Inspecting Internal Chunk Metadata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 err="1"/>
              <a:t>TimescaleDB</a:t>
            </a:r>
            <a:r>
              <a:rPr lang="en-US" dirty="0"/>
              <a:t> exposes system catalog views.</a:t>
            </a:r>
            <a:br>
              <a:rPr lang="en-US" dirty="0"/>
            </a:br>
            <a:r>
              <a:rPr lang="en-US" dirty="0" err="1"/>
              <a:t>timescaledb_information.chunks</a:t>
            </a:r>
            <a:r>
              <a:rPr lang="en-US" dirty="0"/>
              <a:t> provides chunk details.</a:t>
            </a:r>
            <a:br>
              <a:rPr lang="en-US" dirty="0"/>
            </a:br>
            <a:r>
              <a:rPr lang="en-US" dirty="0"/>
              <a:t>It shows chunk name, start time, and end time.</a:t>
            </a:r>
            <a:br>
              <a:rPr lang="en-US" dirty="0"/>
            </a:br>
            <a:r>
              <a:rPr lang="en-US" dirty="0"/>
              <a:t>It confirms how data is physically partitioned.</a:t>
            </a:r>
            <a:br>
              <a:rPr lang="en-US" dirty="0"/>
            </a:br>
            <a:r>
              <a:rPr lang="en-US" dirty="0"/>
              <a:t>This visibility helps in monitoring and tuning.</a:t>
            </a:r>
            <a:br>
              <a:rPr lang="en-US" dirty="0"/>
            </a:br>
            <a:r>
              <a:rPr lang="en-US" dirty="0"/>
              <a:t>Understanding chunk layout is critical for optimization.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Verifying Data Distribution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Counting total rows ensures ingestion completed successfully.</a:t>
            </a:r>
            <a:br>
              <a:rPr lang="en-US" dirty="0"/>
            </a:br>
            <a:r>
              <a:rPr lang="en-US" dirty="0"/>
              <a:t>Checking chunk ranges verifies correct time segmentation.</a:t>
            </a:r>
            <a:br>
              <a:rPr lang="en-US" dirty="0"/>
            </a:br>
            <a:r>
              <a:rPr lang="en-US" dirty="0"/>
              <a:t>Each chunk should correspond to defined interval.</a:t>
            </a:r>
            <a:br>
              <a:rPr lang="en-US" dirty="0"/>
            </a:br>
            <a:r>
              <a:rPr lang="en-US" dirty="0"/>
              <a:t>Multiple chunks indicate automatic scaling.</a:t>
            </a:r>
            <a:br>
              <a:rPr lang="en-US" dirty="0"/>
            </a:br>
            <a:r>
              <a:rPr lang="en-US" dirty="0"/>
              <a:t>Proper distribution confirms </a:t>
            </a:r>
            <a:r>
              <a:rPr lang="en-US" dirty="0" err="1"/>
              <a:t>hypertable</a:t>
            </a:r>
            <a:r>
              <a:rPr lang="en-US" dirty="0"/>
              <a:t> configuration is correct.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Understanding Chunk Exclusion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Chunk exclusion is planner-level optimization.</a:t>
            </a:r>
            <a:br>
              <a:rPr lang="en-US" dirty="0"/>
            </a:br>
            <a:r>
              <a:rPr lang="en-US" dirty="0"/>
              <a:t>When query includes time filter, irrelevant chunks are skipped.</a:t>
            </a:r>
            <a:br>
              <a:rPr lang="en-US" dirty="0"/>
            </a:br>
            <a:r>
              <a:rPr lang="en-US" dirty="0"/>
              <a:t>Only chunks overlapping requested time range are scanned.</a:t>
            </a:r>
            <a:br>
              <a:rPr lang="en-US" dirty="0"/>
            </a:br>
            <a:r>
              <a:rPr lang="en-US" dirty="0"/>
              <a:t>This drastically reduces sequential scans.</a:t>
            </a:r>
            <a:br>
              <a:rPr lang="en-US" dirty="0"/>
            </a:br>
            <a:r>
              <a:rPr lang="en-US" dirty="0"/>
              <a:t>This improves query execution speed significantly.</a:t>
            </a:r>
            <a:br>
              <a:rPr lang="en-US" dirty="0"/>
            </a:br>
            <a:r>
              <a:rPr lang="en-US" dirty="0"/>
              <a:t>Chunk exclusion is a major </a:t>
            </a:r>
            <a:r>
              <a:rPr lang="en-US" dirty="0" err="1"/>
              <a:t>TimescaleDB</a:t>
            </a:r>
            <a:r>
              <a:rPr lang="en-US" dirty="0"/>
              <a:t> advantage.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Using EXPLAIN ANALYZE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/>
              <a:t>EXPLAIN ANALYZE displays execution plan.</a:t>
            </a:r>
            <a:br>
              <a:rPr lang="en-US" dirty="0"/>
            </a:br>
            <a:r>
              <a:rPr lang="en-US" dirty="0"/>
              <a:t>It shows actual rows processed.</a:t>
            </a:r>
            <a:br>
              <a:rPr lang="en-US" dirty="0"/>
            </a:br>
            <a:r>
              <a:rPr lang="en-US" dirty="0"/>
              <a:t>It shows which chunks were scanned.</a:t>
            </a:r>
            <a:br>
              <a:rPr lang="en-US" dirty="0"/>
            </a:br>
            <a:r>
              <a:rPr lang="en-US" dirty="0"/>
              <a:t>It shows index usage.</a:t>
            </a:r>
            <a:br>
              <a:rPr lang="en-US" dirty="0"/>
            </a:br>
            <a:r>
              <a:rPr lang="en-US" dirty="0"/>
              <a:t>It reveals execution timing.</a:t>
            </a:r>
            <a:br>
              <a:rPr lang="en-US" dirty="0"/>
            </a:br>
            <a:r>
              <a:rPr lang="en-US" dirty="0"/>
              <a:t>This tool is essential for query tuning.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Index Optimization Strategy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Indexes improve filtering and sorting performance.</a:t>
            </a:r>
            <a:br>
              <a:rPr lang="en-US" dirty="0"/>
            </a:br>
            <a:r>
              <a:rPr lang="en-US" dirty="0"/>
              <a:t>Composite indexes improve multi-column queries.</a:t>
            </a:r>
            <a:br>
              <a:rPr lang="en-US" dirty="0"/>
            </a:br>
            <a:r>
              <a:rPr lang="en-US" dirty="0"/>
              <a:t>Index on (</a:t>
            </a:r>
            <a:r>
              <a:rPr lang="en-US" dirty="0" err="1"/>
              <a:t>device_id</a:t>
            </a:r>
            <a:r>
              <a:rPr lang="en-US" dirty="0"/>
              <a:t>, </a:t>
            </a:r>
            <a:r>
              <a:rPr lang="en-US" dirty="0" err="1"/>
              <a:t>recorded_at</a:t>
            </a:r>
            <a:r>
              <a:rPr lang="en-US" dirty="0"/>
              <a:t> DESC) improves device lookups.</a:t>
            </a:r>
            <a:br>
              <a:rPr lang="en-US" dirty="0"/>
            </a:br>
            <a:r>
              <a:rPr lang="en-US" dirty="0"/>
              <a:t>Index reduces need for sequential scans.</a:t>
            </a:r>
            <a:br>
              <a:rPr lang="en-US" dirty="0"/>
            </a:br>
            <a:r>
              <a:rPr lang="en-US" dirty="0"/>
              <a:t>Proper indexing enhances planner efficiency.</a:t>
            </a:r>
            <a:br>
              <a:rPr lang="en-US" dirty="0"/>
            </a:br>
            <a:r>
              <a:rPr lang="en-US" dirty="0"/>
              <a:t>Index design must align with query patterns.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Comparing Before and After Index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/>
              <a:t>Running query before index shows baseline performance.</a:t>
            </a:r>
            <a:br>
              <a:rPr lang="en-US" dirty="0"/>
            </a:br>
            <a:r>
              <a:rPr lang="en-US" dirty="0"/>
              <a:t>Execution plan may show sequential scan.</a:t>
            </a:r>
            <a:br>
              <a:rPr lang="en-US" dirty="0"/>
            </a:br>
            <a:r>
              <a:rPr lang="en-US" dirty="0"/>
              <a:t>After creating index, planner uses index scan.</a:t>
            </a:r>
            <a:br>
              <a:rPr lang="en-US" dirty="0"/>
            </a:br>
            <a:r>
              <a:rPr lang="en-US" dirty="0"/>
              <a:t>Execution time reduces significantly.</a:t>
            </a:r>
            <a:br>
              <a:rPr lang="en-US" dirty="0"/>
            </a:br>
            <a:r>
              <a:rPr lang="en-US" dirty="0"/>
              <a:t>Comparing both plans demonstrates impact of indexing.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200"/>
            </a:pPr>
            <a:r>
              <a:rPr lang="en-US" dirty="0" err="1"/>
              <a:t>TimescaleDB</a:t>
            </a:r>
            <a:r>
              <a:rPr lang="en-US" dirty="0"/>
              <a:t> Compression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/>
              <a:t>Compression reduces disk usage dramatically.</a:t>
            </a:r>
            <a:br>
              <a:rPr lang="en-US" dirty="0"/>
            </a:br>
            <a:r>
              <a:rPr lang="en-US" dirty="0"/>
              <a:t>It converts row-based storage into columnar format.</a:t>
            </a:r>
            <a:br>
              <a:rPr lang="en-US" dirty="0"/>
            </a:br>
            <a:r>
              <a:rPr lang="en-US" dirty="0"/>
              <a:t>Columnar storage improves analytical query performance.</a:t>
            </a:r>
            <a:br>
              <a:rPr lang="en-US" dirty="0"/>
            </a:br>
            <a:r>
              <a:rPr lang="en-US" dirty="0"/>
              <a:t>Compression only applies to closed chunks.</a:t>
            </a:r>
            <a:br>
              <a:rPr lang="en-US" dirty="0"/>
            </a:br>
            <a:r>
              <a:rPr lang="en-US" dirty="0"/>
              <a:t>Recent chunks remain uncompressed for fast inserts.</a:t>
            </a:r>
            <a:br>
              <a:rPr lang="en-US" dirty="0"/>
            </a:br>
            <a:r>
              <a:rPr lang="en-US" dirty="0"/>
              <a:t>Compression balances storage and performance.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Adding Compression Policy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/>
              <a:t>Compression policy automates chunk compression.</a:t>
            </a:r>
            <a:br>
              <a:rPr lang="en-US" dirty="0"/>
            </a:br>
            <a:r>
              <a:rPr lang="en-US" dirty="0"/>
              <a:t>Chunks older than defined interval get compressed automatically.</a:t>
            </a:r>
            <a:br>
              <a:rPr lang="en-US" dirty="0"/>
            </a:br>
            <a:r>
              <a:rPr lang="en-US" dirty="0"/>
              <a:t>This reduces long-term storage cost.</a:t>
            </a:r>
            <a:br>
              <a:rPr lang="en-US" dirty="0"/>
            </a:br>
            <a:r>
              <a:rPr lang="en-US" dirty="0"/>
              <a:t>Background workers handle compression.</a:t>
            </a:r>
            <a:br>
              <a:rPr lang="en-US" dirty="0"/>
            </a:br>
            <a:r>
              <a:rPr lang="en-US" dirty="0"/>
              <a:t>No manual intervention required.</a:t>
            </a:r>
            <a:br>
              <a:rPr lang="en-US" dirty="0"/>
            </a:br>
            <a:r>
              <a:rPr lang="en-US" dirty="0"/>
              <a:t>Highly useful in IoT and telemetry workloads.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Retention Policy for Data Lifecycle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/>
              <a:t>Retention policy deletes old chunks automatically.</a:t>
            </a:r>
            <a:br>
              <a:rPr lang="en-US" dirty="0"/>
            </a:br>
            <a:r>
              <a:rPr lang="en-US" dirty="0"/>
              <a:t>Prevents unlimited data growth.</a:t>
            </a:r>
            <a:br>
              <a:rPr lang="en-US" dirty="0"/>
            </a:br>
            <a:r>
              <a:rPr lang="en-US" dirty="0"/>
              <a:t>Maintains storage sustainability.</a:t>
            </a:r>
            <a:br>
              <a:rPr lang="en-US" dirty="0"/>
            </a:br>
            <a:r>
              <a:rPr lang="en-US" dirty="0"/>
              <a:t>Works at chunk level for efficiency.</a:t>
            </a:r>
            <a:br>
              <a:rPr lang="en-US" dirty="0"/>
            </a:br>
            <a:r>
              <a:rPr lang="en-US" dirty="0"/>
              <a:t>Critical for production systems with continuous ingestion.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Monitoring Storage Size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en-US" dirty="0" err="1"/>
              <a:t>pg_total_relation_size</a:t>
            </a:r>
            <a:r>
              <a:rPr lang="en-US" dirty="0"/>
              <a:t>() measures total disk usage.</a:t>
            </a:r>
            <a:br>
              <a:rPr lang="en-US" dirty="0"/>
            </a:br>
            <a:r>
              <a:rPr lang="en-US" dirty="0"/>
              <a:t>Includes table, indexes, and TOAST storage.</a:t>
            </a:r>
            <a:br>
              <a:rPr lang="en-US" dirty="0"/>
            </a:br>
            <a:r>
              <a:rPr lang="en-US" dirty="0"/>
              <a:t>Helps monitor storage footprint.</a:t>
            </a:r>
            <a:br>
              <a:rPr lang="en-US" dirty="0"/>
            </a:br>
            <a:r>
              <a:rPr lang="en-US" dirty="0"/>
              <a:t>Useful for capacity planning.</a:t>
            </a:r>
            <a:br>
              <a:rPr lang="en-US" dirty="0"/>
            </a:br>
            <a:r>
              <a:rPr lang="en-US" dirty="0"/>
              <a:t>Important for cloud cost optimization.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rPr lang="en-US" dirty="0"/>
              <a:t>Maintenance and Best Practices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ANALYZE to update planner statistics.</a:t>
            </a:r>
            <a:br>
              <a:rPr lang="en-US" dirty="0"/>
            </a:br>
            <a:r>
              <a:rPr lang="en-US" dirty="0"/>
              <a:t>Monitor chunk size periodically.</a:t>
            </a:r>
            <a:br>
              <a:rPr lang="en-US" dirty="0"/>
            </a:br>
            <a:r>
              <a:rPr lang="en-US" dirty="0"/>
              <a:t>Tune chunk interval based on workload changes.</a:t>
            </a:r>
            <a:br>
              <a:rPr lang="en-US" dirty="0"/>
            </a:br>
            <a:r>
              <a:rPr lang="en-US" dirty="0"/>
              <a:t>Use compression for historical data.</a:t>
            </a:r>
            <a:br>
              <a:rPr lang="en-US" dirty="0"/>
            </a:br>
            <a:r>
              <a:rPr lang="en-US" dirty="0"/>
              <a:t>Use retention to control growth.</a:t>
            </a:r>
            <a:br>
              <a:rPr lang="en-US" dirty="0"/>
            </a:br>
            <a:r>
              <a:rPr lang="en-US" dirty="0"/>
              <a:t>Always validate performance with EXPLAIN ANALYZE.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0DFC9-F292-CB17-C586-142B6EA6C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Complete Lifecycle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D1A06-D1EB-A43B-A028-1AE281914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created </a:t>
            </a:r>
            <a:r>
              <a:rPr lang="en-US" dirty="0" err="1"/>
              <a:t>hypertable</a:t>
            </a:r>
            <a:r>
              <a:rPr lang="en-US" dirty="0"/>
              <a:t> successfully.</a:t>
            </a:r>
            <a:br>
              <a:rPr lang="en-US" dirty="0"/>
            </a:br>
            <a:r>
              <a:rPr lang="en-US" dirty="0"/>
              <a:t>We inserted one million rows.</a:t>
            </a:r>
            <a:br>
              <a:rPr lang="en-US" dirty="0"/>
            </a:br>
            <a:r>
              <a:rPr lang="en-US" dirty="0"/>
              <a:t>We inspected chunk distribution.</a:t>
            </a:r>
            <a:br>
              <a:rPr lang="en-US" dirty="0"/>
            </a:br>
            <a:r>
              <a:rPr lang="en-US" dirty="0"/>
              <a:t>We optimized queries with indexing.</a:t>
            </a:r>
            <a:br>
              <a:rPr lang="en-US" dirty="0"/>
            </a:br>
            <a:r>
              <a:rPr lang="en-US" dirty="0"/>
              <a:t>We enabled compression.</a:t>
            </a:r>
            <a:br>
              <a:rPr lang="en-US" dirty="0"/>
            </a:br>
            <a:r>
              <a:rPr lang="en-US" dirty="0"/>
              <a:t>We added retention policy.</a:t>
            </a:r>
            <a:br>
              <a:rPr lang="en-US" dirty="0"/>
            </a:br>
            <a:r>
              <a:rPr lang="en-US" dirty="0"/>
              <a:t>We validated performance improvements.</a:t>
            </a:r>
            <a:br>
              <a:rPr lang="en-US" dirty="0"/>
            </a:br>
            <a:r>
              <a:rPr lang="en-US" dirty="0"/>
              <a:t>We cleaned up environment safely.</a:t>
            </a:r>
            <a:br>
              <a:rPr lang="en-US" dirty="0"/>
            </a:br>
            <a:r>
              <a:rPr lang="en-US" dirty="0"/>
              <a:t>This demonstrates full </a:t>
            </a:r>
            <a:r>
              <a:rPr lang="en-US" dirty="0" err="1"/>
              <a:t>TimescaleDB</a:t>
            </a:r>
            <a:r>
              <a:rPr lang="en-US" dirty="0"/>
              <a:t> lifecycle management.</a:t>
            </a:r>
          </a:p>
        </p:txBody>
      </p:sp>
    </p:spTree>
    <p:extLst>
      <p:ext uri="{BB962C8B-B14F-4D97-AF65-F5344CB8AC3E}">
        <p14:creationId xmlns:p14="http://schemas.microsoft.com/office/powerpoint/2010/main" val="2566745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1196</Words>
  <Application>Microsoft Office PowerPoint</Application>
  <PresentationFormat>On-screen Show (4:3)</PresentationFormat>
  <Paragraphs>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Lesson 06 – Chunk Management and Query Optimization</vt:lpstr>
      <vt:lpstr>Introduction to Chunk Management in TimescaleDB</vt:lpstr>
      <vt:lpstr>Understanding Hypertables</vt:lpstr>
      <vt:lpstr>What is a Chunk</vt:lpstr>
      <vt:lpstr>Why Chunking Improves Performance</vt:lpstr>
      <vt:lpstr>Choosing the Right Chunk Interval</vt:lpstr>
      <vt:lpstr>Creating a Base Table Correctly</vt:lpstr>
      <vt:lpstr>Converting Table into Hypertable</vt:lpstr>
      <vt:lpstr>Inserting High Volume Data</vt:lpstr>
      <vt:lpstr>Inspecting Internal Chunk Metadata</vt:lpstr>
      <vt:lpstr>Verifying Data Distribution</vt:lpstr>
      <vt:lpstr>Understanding Chunk Exclusion</vt:lpstr>
      <vt:lpstr>Using EXPLAIN ANALYZE</vt:lpstr>
      <vt:lpstr>Index Optimization Strategy</vt:lpstr>
      <vt:lpstr>Comparing Before and After Index</vt:lpstr>
      <vt:lpstr>TimescaleDB Compression Overview</vt:lpstr>
      <vt:lpstr>Adding Compression Policy</vt:lpstr>
      <vt:lpstr>Retention Policy for Data Lifecycle</vt:lpstr>
      <vt:lpstr>Monitoring Storage Size</vt:lpstr>
      <vt:lpstr>Maintenance and Best Practices</vt:lpstr>
      <vt:lpstr>Complete Lifecycle Recap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2026-02-14T05:31:41Z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2026-02-14T05:31:41Z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22ac48aa-62fc-49ac-bacd-3885bfba59f8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