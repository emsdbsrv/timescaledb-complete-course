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Introduction to Continuous Aggregates.</a:t>
            </a:r>
          </a:p>
          <a:p>
            <a:pPr>
              <a:defRPr sz="2400"/>
            </a:pPr>
            <a:r>
              <a:t>Continuous aggregates precompute query results.</a:t>
            </a:r>
          </a:p>
          <a:p>
            <a:pPr>
              <a:defRPr sz="2400"/>
            </a:pPr>
            <a:r>
              <a:t>They improve analytical query performance.</a:t>
            </a:r>
          </a:p>
          <a:p>
            <a:pPr>
              <a:defRPr sz="2400"/>
            </a:pPr>
            <a:r>
              <a:t>They are built on hypertables.</a:t>
            </a:r>
          </a:p>
          <a:p>
            <a:pPr>
              <a:defRPr sz="2400"/>
            </a:pPr>
            <a:r>
              <a:t>They reduce repeated heavy aggregations.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What Problem Continuous Aggregates Solve.</a:t>
            </a:r>
          </a:p>
          <a:p>
            <a:pPr>
              <a:defRPr sz="2400"/>
            </a:pPr>
            <a:r>
              <a:t>Analytical queries on millions of rows are expensive.</a:t>
            </a:r>
          </a:p>
          <a:p>
            <a:pPr>
              <a:defRPr sz="2400"/>
            </a:pPr>
            <a:r>
              <a:t>Repeated GROUP BY operations consume CPU.</a:t>
            </a:r>
          </a:p>
          <a:p>
            <a:pPr>
              <a:defRPr sz="2400"/>
            </a:pPr>
            <a:r>
              <a:t>Dashboards require fast responses.</a:t>
            </a:r>
          </a:p>
          <a:p>
            <a:pPr>
              <a:defRPr sz="2400"/>
            </a:pPr>
            <a:r>
              <a:t>Continuous aggregates solve this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How Continuous Aggregates Work.</a:t>
            </a:r>
          </a:p>
          <a:p>
            <a:pPr>
              <a:defRPr sz="2400"/>
            </a:pPr>
            <a:r>
              <a:t>They materialize aggregated results.</a:t>
            </a:r>
          </a:p>
          <a:p>
            <a:pPr>
              <a:defRPr sz="2400"/>
            </a:pPr>
            <a:r>
              <a:t>They refresh incrementally.</a:t>
            </a:r>
          </a:p>
          <a:p>
            <a:pPr>
              <a:defRPr sz="2400"/>
            </a:pPr>
            <a:r>
              <a:t>They track invalidation regions.</a:t>
            </a:r>
          </a:p>
          <a:p>
            <a:pPr>
              <a:defRPr sz="2400"/>
            </a:pPr>
            <a:r>
              <a:t>They recompute only changed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Prerequisite Hypertable.</a:t>
            </a:r>
          </a:p>
          <a:p>
            <a:pPr>
              <a:defRPr sz="2400"/>
            </a:pPr>
            <a:r>
              <a:t>Continuous aggregates require hypertables.</a:t>
            </a:r>
          </a:p>
          <a:p>
            <a:pPr>
              <a:defRPr sz="2400"/>
            </a:pPr>
            <a:r>
              <a:t>Data must include time column.</a:t>
            </a:r>
          </a:p>
          <a:p>
            <a:pPr>
              <a:defRPr sz="2400"/>
            </a:pPr>
            <a:r>
              <a:t>Partitioning improves efficiency.</a:t>
            </a:r>
          </a:p>
          <a:p>
            <a:pPr>
              <a:defRPr sz="2400"/>
            </a:pPr>
            <a:r>
              <a:t>Aggregation typically uses time_bucket function.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Understanding time_bucket.</a:t>
            </a:r>
          </a:p>
          <a:p>
            <a:pPr>
              <a:defRPr sz="2400"/>
            </a:pPr>
            <a:r>
              <a:t>time_bucket groups timestamps into intervals.</a:t>
            </a:r>
          </a:p>
          <a:p>
            <a:pPr>
              <a:defRPr sz="2400"/>
            </a:pPr>
            <a:r>
              <a:t>Example: 1 hour buckets.</a:t>
            </a:r>
          </a:p>
          <a:p>
            <a:pPr>
              <a:defRPr sz="2400"/>
            </a:pPr>
            <a:r>
              <a:t>Example: 1 day buckets.</a:t>
            </a:r>
          </a:p>
          <a:p>
            <a:pPr>
              <a:defRPr sz="2400"/>
            </a:pPr>
            <a:r>
              <a:t>It is optimized for time-series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Creating Base Hypertable.</a:t>
            </a:r>
          </a:p>
          <a:p>
            <a:pPr>
              <a:defRPr sz="2400"/>
            </a:pPr>
            <a:r>
              <a:t>Define composite primary key including time.</a:t>
            </a:r>
          </a:p>
          <a:p>
            <a:pPr>
              <a:defRPr sz="2400"/>
            </a:pPr>
            <a:r>
              <a:t>Insert high volume dataset.</a:t>
            </a:r>
          </a:p>
          <a:p>
            <a:pPr>
              <a:defRPr sz="2400"/>
            </a:pPr>
            <a:r>
              <a:t>Simulate production ingestion.</a:t>
            </a:r>
          </a:p>
          <a:p>
            <a:pPr>
              <a:defRPr sz="2400"/>
            </a:pPr>
            <a:r>
              <a:t>Ensure proper indexing.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Inserting 1,000,000 Rows.</a:t>
            </a:r>
          </a:p>
          <a:p>
            <a:pPr>
              <a:defRPr sz="2400"/>
            </a:pPr>
            <a:r>
              <a:t>Simulate IoT telemetry.</a:t>
            </a:r>
          </a:p>
          <a:p>
            <a:pPr>
              <a:defRPr sz="2400"/>
            </a:pPr>
            <a:r>
              <a:t>Distribute timestamps across range.</a:t>
            </a:r>
          </a:p>
          <a:p>
            <a:pPr>
              <a:defRPr sz="2400"/>
            </a:pPr>
            <a:r>
              <a:t>Observe chunk creation.</a:t>
            </a:r>
          </a:p>
          <a:p>
            <a:pPr>
              <a:defRPr sz="2400"/>
            </a:pPr>
            <a:r>
              <a:t>Prepare for aggregation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Creating Continuous Aggregate View.</a:t>
            </a:r>
          </a:p>
          <a:p>
            <a:pPr>
              <a:defRPr sz="2400"/>
            </a:pPr>
            <a:r>
              <a:t>Use CREATE MATERIALIZED VIEW.</a:t>
            </a:r>
          </a:p>
          <a:p>
            <a:pPr>
              <a:defRPr sz="2400"/>
            </a:pPr>
            <a:r>
              <a:t>Add timescaledb.continuous option.</a:t>
            </a:r>
          </a:p>
          <a:p>
            <a:pPr>
              <a:defRPr sz="2400"/>
            </a:pPr>
            <a:r>
              <a:t>Group by time_bucket and dimension columns.</a:t>
            </a:r>
          </a:p>
          <a:p>
            <a:pPr>
              <a:defRPr sz="2400"/>
            </a:pPr>
            <a:r>
              <a:t>Store pre-aggregated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Example Continuous Aggregate Query.</a:t>
            </a:r>
          </a:p>
          <a:p>
            <a:pPr>
              <a:defRPr sz="2400"/>
            </a:pPr>
            <a:r>
              <a:t>Aggregate average temperature per hour.</a:t>
            </a:r>
          </a:p>
          <a:p>
            <a:pPr>
              <a:defRPr sz="2400"/>
            </a:pPr>
            <a:r>
              <a:t>Group by device_id.</a:t>
            </a:r>
          </a:p>
          <a:p>
            <a:pPr>
              <a:defRPr sz="2400"/>
            </a:pPr>
            <a:r>
              <a:t>Use time_bucket.</a:t>
            </a:r>
          </a:p>
          <a:p>
            <a:pPr>
              <a:defRPr sz="2400"/>
            </a:pPr>
            <a:r>
              <a:t>Verify output rows.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Refreshing Continuous Aggregates.</a:t>
            </a:r>
          </a:p>
          <a:p>
            <a:pPr>
              <a:defRPr sz="2400"/>
            </a:pPr>
            <a:r>
              <a:t>Manual refresh using refresh_continuous_aggregate.</a:t>
            </a:r>
          </a:p>
          <a:p>
            <a:pPr>
              <a:defRPr sz="2400"/>
            </a:pPr>
            <a:r>
              <a:t>Incremental refresh.</a:t>
            </a:r>
          </a:p>
          <a:p>
            <a:pPr>
              <a:defRPr sz="2400"/>
            </a:pPr>
            <a:r>
              <a:t>Avoid full recomputation.</a:t>
            </a:r>
          </a:p>
          <a:p>
            <a:pPr>
              <a:defRPr sz="2400"/>
            </a:pPr>
            <a:r>
              <a:t>Maintain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Automatic Refresh Policy.</a:t>
            </a:r>
          </a:p>
          <a:p>
            <a:pPr>
              <a:defRPr sz="2400"/>
            </a:pPr>
            <a:r>
              <a:t>Use add_continuous_aggregate_policy.</a:t>
            </a:r>
          </a:p>
          <a:p>
            <a:pPr>
              <a:defRPr sz="2400"/>
            </a:pPr>
            <a:r>
              <a:t>Define start_offset and end_offset.</a:t>
            </a:r>
          </a:p>
          <a:p>
            <a:pPr>
              <a:defRPr sz="2400"/>
            </a:pPr>
            <a:r>
              <a:t>Define schedule interval.</a:t>
            </a:r>
          </a:p>
          <a:p>
            <a:pPr>
              <a:defRPr sz="2400"/>
            </a:pPr>
            <a:r>
              <a:t>Automate aggregation maintenance.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Querying Continuous Aggregate.</a:t>
            </a:r>
          </a:p>
          <a:p>
            <a:pPr>
              <a:defRPr sz="2400"/>
            </a:pPr>
            <a:r>
              <a:t>Select directly from materialized view.</a:t>
            </a:r>
          </a:p>
          <a:p>
            <a:pPr>
              <a:defRPr sz="2400"/>
            </a:pPr>
            <a:r>
              <a:t>Observe faster execution time.</a:t>
            </a:r>
          </a:p>
          <a:p>
            <a:pPr>
              <a:defRPr sz="2400"/>
            </a:pPr>
            <a:r>
              <a:t>Compare with raw aggregation query.</a:t>
            </a:r>
          </a:p>
          <a:p>
            <a:pPr>
              <a:defRPr sz="2400"/>
            </a:pPr>
            <a:r>
              <a:t>Confirm performance improvement.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Performance Comparison.</a:t>
            </a:r>
          </a:p>
          <a:p>
            <a:pPr>
              <a:defRPr sz="2400"/>
            </a:pPr>
            <a:r>
              <a:t>Run EXPLAIN ANALYZE on raw query.</a:t>
            </a:r>
          </a:p>
          <a:p>
            <a:pPr>
              <a:defRPr sz="2400"/>
            </a:pPr>
            <a:r>
              <a:t>Run EXPLAIN ANALYZE on aggregate view.</a:t>
            </a:r>
          </a:p>
          <a:p>
            <a:pPr>
              <a:defRPr sz="2400"/>
            </a:pPr>
            <a:r>
              <a:t>Compare execution time.</a:t>
            </a:r>
          </a:p>
          <a:p>
            <a:pPr>
              <a:defRPr sz="2400"/>
            </a:pPr>
            <a:r>
              <a:t>Demonstrate efficiency gain.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Indexing Continuous Aggregate.</a:t>
            </a:r>
          </a:p>
          <a:p>
            <a:pPr>
              <a:defRPr sz="2400"/>
            </a:pPr>
            <a:r>
              <a:t>Add index on bucket column.</a:t>
            </a:r>
          </a:p>
          <a:p>
            <a:pPr>
              <a:defRPr sz="2400"/>
            </a:pPr>
            <a:r>
              <a:t>Improve time filtering queries.</a:t>
            </a:r>
          </a:p>
          <a:p>
            <a:pPr>
              <a:defRPr sz="2400"/>
            </a:pPr>
            <a:r>
              <a:t>Optimize dashboard usage.</a:t>
            </a:r>
          </a:p>
          <a:p>
            <a:pPr>
              <a:defRPr sz="2400"/>
            </a:pPr>
            <a:r>
              <a:t>Enhance performance further.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Handling Late Arriving Data.</a:t>
            </a:r>
          </a:p>
          <a:p>
            <a:pPr>
              <a:defRPr sz="2400"/>
            </a:pPr>
            <a:r>
              <a:t>Continuous aggregates track invalidations.</a:t>
            </a:r>
          </a:p>
          <a:p>
            <a:pPr>
              <a:defRPr sz="2400"/>
            </a:pPr>
            <a:r>
              <a:t>Late data triggers partial recompute.</a:t>
            </a:r>
          </a:p>
          <a:p>
            <a:pPr>
              <a:defRPr sz="2400"/>
            </a:pPr>
            <a:r>
              <a:t>Maintains accuracy.</a:t>
            </a:r>
          </a:p>
          <a:p>
            <a:pPr>
              <a:defRPr sz="2400"/>
            </a:pPr>
            <a:r>
              <a:t>Ensures reliability.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Retention with Continuous Aggregates.</a:t>
            </a:r>
          </a:p>
          <a:p>
            <a:pPr>
              <a:defRPr sz="2400"/>
            </a:pPr>
            <a:r>
              <a:t>Retention on hypertable.</a:t>
            </a:r>
          </a:p>
          <a:p>
            <a:pPr>
              <a:defRPr sz="2400"/>
            </a:pPr>
            <a:r>
              <a:t>Aggregates update automatically.</a:t>
            </a:r>
          </a:p>
          <a:p>
            <a:pPr>
              <a:defRPr sz="2400"/>
            </a:pPr>
            <a:r>
              <a:t>Old raw data may be dropped.</a:t>
            </a:r>
          </a:p>
          <a:p>
            <a:pPr>
              <a:defRPr sz="2400"/>
            </a:pPr>
            <a:r>
              <a:t>Aggregates preserve summarized history.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Compression with Continuous Aggregates.</a:t>
            </a:r>
          </a:p>
          <a:p>
            <a:pPr>
              <a:defRPr sz="2400"/>
            </a:pPr>
            <a:r>
              <a:t>Compress raw hypertable.</a:t>
            </a:r>
          </a:p>
          <a:p>
            <a:pPr>
              <a:defRPr sz="2400"/>
            </a:pPr>
            <a:r>
              <a:t>Aggregates remain accessible.</a:t>
            </a:r>
          </a:p>
          <a:p>
            <a:pPr>
              <a:defRPr sz="2400"/>
            </a:pPr>
            <a:r>
              <a:t>Optimize storage footprint.</a:t>
            </a:r>
          </a:p>
          <a:p>
            <a:pPr>
              <a:defRPr sz="2400"/>
            </a:pPr>
            <a:r>
              <a:t>Maintain query speed.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Real Production Scenario.</a:t>
            </a:r>
          </a:p>
          <a:p>
            <a:pPr>
              <a:defRPr sz="2400"/>
            </a:pPr>
            <a:r>
              <a:t>IoT system with hourly dashboards.</a:t>
            </a:r>
          </a:p>
          <a:p>
            <a:pPr>
              <a:defRPr sz="2400"/>
            </a:pPr>
            <a:r>
              <a:t>Millions of daily records.</a:t>
            </a:r>
          </a:p>
          <a:p>
            <a:pPr>
              <a:defRPr sz="2400"/>
            </a:pPr>
            <a:r>
              <a:t>Continuous aggregates reduce CPU usage.</a:t>
            </a:r>
          </a:p>
          <a:p>
            <a:pPr>
              <a:defRPr sz="2400"/>
            </a:pPr>
            <a:r>
              <a:t>Provide near real-time analytics.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Cleanup Process.</a:t>
            </a:r>
          </a:p>
          <a:p>
            <a:pPr>
              <a:defRPr sz="2400"/>
            </a:pPr>
            <a:r>
              <a:t>Remove aggregate policy.</a:t>
            </a:r>
          </a:p>
          <a:p>
            <a:pPr>
              <a:defRPr sz="2400"/>
            </a:pPr>
            <a:r>
              <a:t>Drop materialized view.</a:t>
            </a:r>
          </a:p>
          <a:p>
            <a:pPr>
              <a:defRPr sz="2400"/>
            </a:pPr>
            <a:r>
              <a:t>Drop hypertable.</a:t>
            </a:r>
          </a:p>
          <a:p>
            <a:pPr>
              <a:defRPr sz="2400"/>
            </a:pPr>
            <a:r>
              <a:t>Drop database.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07 – Continuous Aggregates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Summary.</a:t>
            </a:r>
          </a:p>
          <a:p>
            <a:pPr>
              <a:defRPr sz="2400"/>
            </a:pPr>
            <a:r>
              <a:t>Continuous aggregates improve performance.</a:t>
            </a:r>
          </a:p>
          <a:p>
            <a:pPr>
              <a:defRPr sz="2400"/>
            </a:pPr>
            <a:r>
              <a:t>Reduce repeated heavy computation.</a:t>
            </a:r>
          </a:p>
          <a:p>
            <a:pPr>
              <a:defRPr sz="2400"/>
            </a:pPr>
            <a:r>
              <a:t>Automate aggregation maintenance.</a:t>
            </a:r>
          </a:p>
          <a:p>
            <a:pPr>
              <a:defRPr sz="2400"/>
            </a:pPr>
            <a:r>
              <a:t>Essential for analytics workloads.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