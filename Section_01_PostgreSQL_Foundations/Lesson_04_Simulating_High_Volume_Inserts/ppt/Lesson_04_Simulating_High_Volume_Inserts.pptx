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04 – Simulating High Volume Inserts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lesson demonstrates high-volume data ingestion in PostgreSQL and TimescaleDB.</a:t>
            </a:r>
          </a:p>
          <a:p>
            <a:pPr>
              <a:defRPr sz="2400"/>
            </a:pPr>
            <a:r>
              <a:t>You will simulate real-world insert-heavy workloads.</a:t>
            </a:r>
          </a:p>
          <a:p>
            <a:pPr>
              <a:defRPr sz="2400"/>
            </a:pPr>
            <a:r>
              <a:t>Performance impact on WAL, checkpoints, and indexing will be analyzed.</a:t>
            </a:r>
          </a:p>
          <a:p>
            <a:pPr>
              <a:defRPr sz="2400"/>
            </a:pPr>
            <a:r>
              <a:t>Execution plans and timing metrics will be validated.</a:t>
            </a:r>
          </a:p>
          <a:p>
            <a:pPr>
              <a:defRPr sz="2400"/>
            </a:pPr>
            <a:r>
              <a:t>Production tuning recommendations will be discussed.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Objective of High Volume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Understand ingestion bottlenecks.</a:t>
            </a:r>
          </a:p>
          <a:p>
            <a:pPr>
              <a:defRPr sz="2400"/>
            </a:pPr>
            <a:r>
              <a:t>Measure insert performance under load.</a:t>
            </a:r>
          </a:p>
          <a:p>
            <a:pPr>
              <a:defRPr sz="2400"/>
            </a:pPr>
            <a:r>
              <a:t>Observe WAL generation behavior.</a:t>
            </a:r>
          </a:p>
          <a:p>
            <a:pPr>
              <a:defRPr sz="2400"/>
            </a:pPr>
            <a:r>
              <a:t>Analyze impact of indexes on insert speed.</a:t>
            </a:r>
          </a:p>
          <a:p>
            <a:pPr>
              <a:defRPr sz="2400"/>
            </a:pPr>
            <a:r>
              <a:t>Prepare database for production-scale ingestion.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PostgreSQL 17 installed.</a:t>
            </a:r>
          </a:p>
          <a:p>
            <a:pPr>
              <a:defRPr sz="2400"/>
            </a:pPr>
            <a:r>
              <a:t>TimescaleDB enabled.</a:t>
            </a:r>
          </a:p>
          <a:p>
            <a:pPr>
              <a:defRPr sz="2400"/>
            </a:pPr>
            <a:r>
              <a:t>Hypertable already created.</a:t>
            </a:r>
          </a:p>
          <a:p>
            <a:pPr>
              <a:defRPr sz="2400"/>
            </a:pPr>
            <a:r>
              <a:t>Minimum 4GB RAM recommended.</a:t>
            </a:r>
          </a:p>
          <a:p>
            <a:pPr>
              <a:defRPr sz="2400"/>
            </a:pPr>
            <a:r>
              <a:t>Monitoring tools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Generate Large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generate_series for rapid row creation.</a:t>
            </a:r>
          </a:p>
          <a:p>
            <a:pPr>
              <a:defRPr sz="2400"/>
            </a:pPr>
            <a:r>
              <a:t>Simulate timestamp spread across time window.</a:t>
            </a:r>
          </a:p>
          <a:p>
            <a:pPr>
              <a:defRPr sz="2400"/>
            </a:pPr>
            <a:r>
              <a:t>Simulate multiple device identifiers.</a:t>
            </a:r>
          </a:p>
          <a:p>
            <a:pPr>
              <a:defRPr sz="2400"/>
            </a:pPr>
            <a:r>
              <a:t>Generate realistic metric values.</a:t>
            </a:r>
          </a:p>
          <a:p>
            <a:pPr>
              <a:defRPr sz="2400"/>
            </a:pPr>
            <a:r>
              <a:t>Insert dataset using single SQL 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Insert 1 Million Rows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 INTO metrics.sensor_data</a:t>
            </a:r>
          </a:p>
          <a:p>
            <a:pPr>
              <a:defRPr sz="2400"/>
            </a:pPr>
            <a:r>
              <a:t>SELECT generate_series(1,1000000),</a:t>
            </a:r>
          </a:p>
          <a:p>
            <a:pPr>
              <a:defRPr sz="2400"/>
            </a:pPr>
            <a:r>
              <a:t> (random()*20)::int,</a:t>
            </a:r>
          </a:p>
          <a:p>
            <a:pPr>
              <a:defRPr sz="2400"/>
            </a:pPr>
            <a:r>
              <a:t> NOW() - (random()*50000 || ' seconds')::interval,</a:t>
            </a:r>
          </a:p>
          <a:p>
            <a:pPr>
              <a:defRPr sz="2400"/>
            </a:pPr>
            <a:r>
              <a:t> random()*60,</a:t>
            </a:r>
          </a:p>
          <a:p>
            <a:pPr>
              <a:defRPr sz="2400"/>
            </a:pPr>
            <a:r>
              <a:t> random()*100;</a:t>
            </a:r>
          </a:p>
          <a:p>
            <a:pPr>
              <a:defRPr sz="2400"/>
            </a:pPr>
            <a:r>
              <a:t>Measure total execution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Measure Insert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\timing in psql.</a:t>
            </a:r>
          </a:p>
          <a:p>
            <a:pPr>
              <a:defRPr sz="2400"/>
            </a:pPr>
            <a:r>
              <a:t>Monitor pg_stat_activity.</a:t>
            </a:r>
          </a:p>
          <a:p>
            <a:pPr>
              <a:defRPr sz="2400"/>
            </a:pPr>
            <a:r>
              <a:t>Check pg_stat_bgwriter.</a:t>
            </a:r>
          </a:p>
          <a:p>
            <a:pPr>
              <a:defRPr sz="2400"/>
            </a:pPr>
            <a:r>
              <a:t>Observe WAL directory growth.</a:t>
            </a:r>
          </a:p>
          <a:p>
            <a:pPr>
              <a:defRPr sz="2400"/>
            </a:pPr>
            <a:r>
              <a:t>Capture execution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Impact of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Test inserts with index enabled.</a:t>
            </a:r>
          </a:p>
          <a:p>
            <a:pPr>
              <a:defRPr sz="2400"/>
            </a:pPr>
            <a:r>
              <a:t>Drop index and retest.</a:t>
            </a:r>
          </a:p>
          <a:p>
            <a:pPr>
              <a:defRPr sz="2400"/>
            </a:pPr>
            <a:r>
              <a:t>Compare execution duration.</a:t>
            </a:r>
          </a:p>
          <a:p>
            <a:pPr>
              <a:defRPr sz="2400"/>
            </a:pPr>
            <a:r>
              <a:t>Analyze write amplification.</a:t>
            </a:r>
          </a:p>
          <a:p>
            <a:pPr>
              <a:defRPr sz="2400"/>
            </a:pPr>
            <a:r>
              <a:t>Understand trade-off between reads and writes.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Checkpoint and WAL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 checkpoint frequency.</a:t>
            </a:r>
          </a:p>
          <a:p>
            <a:pPr>
              <a:defRPr sz="2400"/>
            </a:pPr>
            <a:r>
              <a:t>Monitor WAL segment creation.</a:t>
            </a:r>
          </a:p>
          <a:p>
            <a:pPr>
              <a:defRPr sz="2400"/>
            </a:pPr>
            <a:r>
              <a:t>Use SHOW checkpoint_timeout.</a:t>
            </a:r>
          </a:p>
          <a:p>
            <a:pPr>
              <a:defRPr sz="2400"/>
            </a:pPr>
            <a:r>
              <a:t>Understand fsync impact.</a:t>
            </a:r>
          </a:p>
          <a:p>
            <a:pPr>
              <a:defRPr sz="2400"/>
            </a:pPr>
            <a:r>
              <a:t>Observe disk I/O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Performance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Increase shared_buffers.</a:t>
            </a:r>
          </a:p>
          <a:p>
            <a:pPr>
              <a:defRPr sz="2400"/>
            </a:pPr>
            <a:r>
              <a:t>Tune wal_buffers.</a:t>
            </a:r>
          </a:p>
          <a:p>
            <a:pPr>
              <a:defRPr sz="2400"/>
            </a:pPr>
            <a:r>
              <a:t>Adjust checkpoint_completion_target.</a:t>
            </a:r>
          </a:p>
          <a:p>
            <a:pPr>
              <a:defRPr sz="2400"/>
            </a:pPr>
            <a:r>
              <a:t>Use COPY for bulk inserts.</a:t>
            </a:r>
          </a:p>
          <a:p>
            <a:pPr>
              <a:defRPr sz="2400"/>
            </a:pPr>
            <a:r>
              <a:t>Consider batching inserts.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Validation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SELECT COUNT(*) FROM metrics.sensor_data;</a:t>
            </a:r>
          </a:p>
          <a:p>
            <a:pPr>
              <a:defRPr sz="2400"/>
            </a:pPr>
            <a:r>
              <a:t>EXPLAIN ANALYZE SELECT * FROM metrics.sensor_data</a:t>
            </a:r>
          </a:p>
          <a:p>
            <a:pPr>
              <a:defRPr sz="2400"/>
            </a:pPr>
            <a:r>
              <a:t>WHERE recorded_at &gt; NOW() - INTERVAL '1 hour';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Production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Batch inserts in transactions.</a:t>
            </a:r>
          </a:p>
          <a:p>
            <a:pPr>
              <a:defRPr sz="2400"/>
            </a:pPr>
            <a:r>
              <a:t>Avoid excessive indexes during ingestion.</a:t>
            </a:r>
          </a:p>
          <a:p>
            <a:pPr>
              <a:defRPr sz="2400"/>
            </a:pPr>
            <a:r>
              <a:t>Use connection pooling.</a:t>
            </a:r>
          </a:p>
          <a:p>
            <a:pPr>
              <a:defRPr sz="2400"/>
            </a:pPr>
            <a:r>
              <a:t>Enable compression for historical chunks.</a:t>
            </a:r>
          </a:p>
          <a:p>
            <a:pPr>
              <a:defRPr sz="2400"/>
            </a:pPr>
            <a:r>
              <a:t>Monitor disk I/O continuously.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High-volume insert simulation completed.</a:t>
            </a:r>
          </a:p>
          <a:p>
            <a:pPr>
              <a:defRPr sz="2400"/>
            </a:pPr>
            <a:r>
              <a:t>Performance measured and analyzed.</a:t>
            </a:r>
          </a:p>
          <a:p>
            <a:pPr>
              <a:defRPr sz="2400"/>
            </a:pPr>
            <a:r>
              <a:t>Index impact validated.</a:t>
            </a:r>
          </a:p>
          <a:p>
            <a:pPr>
              <a:defRPr sz="2400"/>
            </a:pPr>
            <a:r>
              <a:t>WAL and checkpoint behavior observed.</a:t>
            </a:r>
          </a:p>
          <a:p>
            <a:pPr>
              <a:defRPr sz="2400"/>
            </a:pPr>
            <a:r>
              <a:t>Database prepared for production-scale ingestion.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