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03 – Creating Time Series Lab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Complete PostgreSQL 17 Installation</a:t>
            </a:r>
          </a:p>
          <a:p>
            <a:pPr>
              <a:defRPr sz="2400"/>
            </a:pPr>
            <a:r>
              <a:t>Remote Access Configuration (0.0.0.0/0)</a:t>
            </a:r>
          </a:p>
          <a:p>
            <a:pPr>
              <a:defRPr sz="2400"/>
            </a:pPr>
            <a:r>
              <a:t>TimescaleDB Installation</a:t>
            </a:r>
          </a:p>
          <a:p>
            <a:pPr>
              <a:defRPr sz="2400"/>
            </a:pPr>
            <a:r>
              <a:t>Hypertable Architecture</a:t>
            </a:r>
          </a:p>
          <a:p>
            <a:pPr>
              <a:defRPr sz="2400"/>
            </a:pPr>
            <a:r>
              <a:t>1,000,000 Row Ingestion</a:t>
            </a:r>
          </a:p>
          <a:p>
            <a:pPr>
              <a:defRPr sz="2400"/>
            </a:pPr>
            <a:r>
              <a:t>Compression &amp; Retention</a:t>
            </a:r>
          </a:p>
          <a:p>
            <a:pPr>
              <a:defRPr sz="2400"/>
            </a:pPr>
            <a:r>
              <a:t>Continuous Aggregates</a:t>
            </a:r>
          </a:p>
          <a:p>
            <a:pPr>
              <a:defRPr sz="2400"/>
            </a:pPr>
            <a:r>
              <a:t>Full Cleanup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Repository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postgresql-common</a:t>
            </a:r>
          </a:p>
          <a:p>
            <a:pPr>
              <a:defRPr sz="2400"/>
            </a:pPr>
            <a:r>
              <a:t>Execute PGDG repository script</a:t>
            </a:r>
          </a:p>
          <a:p>
            <a:pPr>
              <a:defRPr sz="2400"/>
            </a:pPr>
            <a:r>
              <a:t>Import signing keys</a:t>
            </a:r>
          </a:p>
          <a:p>
            <a:pPr>
              <a:defRPr sz="2400"/>
            </a:pPr>
            <a:r>
              <a:t>Refresh package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Install PostgreSQL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server package</a:t>
            </a:r>
          </a:p>
          <a:p>
            <a:pPr>
              <a:defRPr sz="2400"/>
            </a:pPr>
            <a:r>
              <a:t>Install client tools</a:t>
            </a:r>
          </a:p>
          <a:p>
            <a:pPr>
              <a:defRPr sz="2400"/>
            </a:pPr>
            <a:r>
              <a:t>Install contrib extensions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Service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Enable PostgreSQL at boot</a:t>
            </a:r>
          </a:p>
          <a:p>
            <a:pPr>
              <a:defRPr sz="2400"/>
            </a:pPr>
            <a:r>
              <a:t>Start PostgreSQL service</a:t>
            </a:r>
          </a:p>
          <a:p>
            <a:pPr>
              <a:defRPr sz="2400"/>
            </a:pPr>
            <a:r>
              <a:t>Validate service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Secure Superuser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Switch to postgres OS user</a:t>
            </a:r>
          </a:p>
          <a:p>
            <a:pPr>
              <a:defRPr sz="2400"/>
            </a:pPr>
            <a:r>
              <a:t>Set strong password</a:t>
            </a:r>
          </a:p>
          <a:p>
            <a:pPr>
              <a:defRPr sz="2400"/>
            </a:pPr>
            <a:r>
              <a:t>Enable password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Enable Remote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Set listen_addresses='*'</a:t>
            </a:r>
          </a:p>
          <a:p>
            <a:pPr>
              <a:defRPr sz="2400"/>
            </a:pPr>
            <a:r>
              <a:t>Modify pg_hba.conf</a:t>
            </a:r>
          </a:p>
          <a:p>
            <a:pPr>
              <a:defRPr sz="2400"/>
            </a:pPr>
            <a:r>
              <a:t>Use 0.0.0.0/0 with SCRAM-SHA-256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Open Port 5432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Allow via UFW</a:t>
            </a:r>
          </a:p>
          <a:p>
            <a:pPr>
              <a:defRPr sz="2400"/>
            </a:pPr>
            <a:r>
              <a:t>Allow via AWS Security Group</a:t>
            </a:r>
          </a:p>
          <a:p>
            <a:pPr>
              <a:defRPr sz="2400"/>
            </a:pPr>
            <a:r>
              <a:t>Verify listening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Validate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 service status</a:t>
            </a:r>
          </a:p>
          <a:p>
            <a:pPr>
              <a:defRPr sz="2400"/>
            </a:pPr>
            <a:r>
              <a:t>Confirm version</a:t>
            </a:r>
          </a:p>
          <a:p>
            <a:pPr>
              <a:defRPr sz="2400"/>
            </a:pPr>
            <a:r>
              <a:t>List databases</a:t>
            </a:r>
          </a:p>
          <a:p>
            <a:pPr>
              <a:defRPr sz="2400"/>
            </a:pPr>
            <a:r>
              <a:t>List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Install TimescaleDB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timescaledb-2-postgresql-17</a:t>
            </a:r>
          </a:p>
          <a:p>
            <a:pPr>
              <a:defRPr sz="2400"/>
            </a:pPr>
            <a:r>
              <a:t>Enable shared_preload_libraries</a:t>
            </a:r>
          </a:p>
          <a:p>
            <a:pPr>
              <a:defRPr sz="2400"/>
            </a:pPr>
            <a:r>
              <a:t>Restart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Validate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SHOW shared_preload_libraries</a:t>
            </a:r>
          </a:p>
          <a:p>
            <a:pPr>
              <a:defRPr sz="2400"/>
            </a:pPr>
            <a:r>
              <a:t>Verify timescaledb loaded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Create Lab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DATABASE ts_lab</a:t>
            </a:r>
          </a:p>
          <a:p>
            <a:pPr>
              <a:defRPr sz="2400"/>
            </a:pPr>
            <a:r>
              <a:t>Enable timescaledb extension</a:t>
            </a:r>
          </a:p>
          <a:p>
            <a:pPr>
              <a:defRPr sz="2400"/>
            </a:pPr>
            <a:r>
              <a:t>Verify using \dx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Schema &amp; Table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metrics schema</a:t>
            </a:r>
          </a:p>
          <a:p>
            <a:pPr>
              <a:defRPr sz="2400"/>
            </a:pPr>
            <a:r>
              <a:t>Create sensor_data table</a:t>
            </a:r>
          </a:p>
          <a:p>
            <a:pPr>
              <a:defRPr sz="2400"/>
            </a:pPr>
            <a:r>
              <a:t>Define time column</a:t>
            </a:r>
          </a:p>
          <a:p>
            <a:pPr>
              <a:defRPr sz="2400"/>
            </a:pPr>
            <a:r>
              <a:t>Add primary key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Hypertable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create_hypertable()</a:t>
            </a:r>
          </a:p>
          <a:p>
            <a:pPr>
              <a:defRPr sz="2400"/>
            </a:pPr>
            <a:r>
              <a:t>Partition by recorded_at</a:t>
            </a:r>
          </a:p>
          <a:p>
            <a:pPr>
              <a:defRPr sz="2400"/>
            </a:pPr>
            <a:r>
              <a:t>Automatic chunk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Insert 1,000,000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generate_series()</a:t>
            </a:r>
          </a:p>
          <a:p>
            <a:pPr>
              <a:defRPr sz="2400"/>
            </a:pPr>
            <a:r>
              <a:t>Simulate IoT data</a:t>
            </a:r>
          </a:p>
          <a:p>
            <a:pPr>
              <a:defRPr sz="2400"/>
            </a:pPr>
            <a:r>
              <a:t>Randomized timestamps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Indexing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descending index</a:t>
            </a:r>
          </a:p>
          <a:p>
            <a:pPr>
              <a:defRPr sz="2400"/>
            </a:pPr>
            <a:r>
              <a:t>Optimize time queries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Performance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COUNT(*) verification</a:t>
            </a:r>
          </a:p>
          <a:p>
            <a:pPr>
              <a:defRPr sz="2400"/>
            </a:pPr>
            <a:r>
              <a:t>EXPLAIN ANALYZE</a:t>
            </a:r>
          </a:p>
          <a:p>
            <a:pPr>
              <a:defRPr sz="2400"/>
            </a:pPr>
            <a:r>
              <a:t>Chunk pruning confirmation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Enable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ALTER TABLE compress</a:t>
            </a:r>
          </a:p>
          <a:p>
            <a:pPr>
              <a:defRPr sz="2400"/>
            </a:pPr>
            <a:r>
              <a:t>Segment by device_id</a:t>
            </a:r>
          </a:p>
          <a:p>
            <a:pPr>
              <a:defRPr sz="2400"/>
            </a:pPr>
            <a:r>
              <a:t>Add compression policy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Retention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30-day retention</a:t>
            </a:r>
          </a:p>
          <a:p>
            <a:pPr>
              <a:defRPr sz="2400"/>
            </a:pPr>
            <a:r>
              <a:t>Automatic chunk removal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Continuous Aggregates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hourly average view</a:t>
            </a:r>
          </a:p>
          <a:p>
            <a:pPr>
              <a:defRPr sz="2400"/>
            </a:pPr>
            <a:r>
              <a:t>Use time_bucket()</a:t>
            </a:r>
          </a:p>
          <a:p>
            <a:pPr>
              <a:defRPr sz="2400"/>
            </a:pPr>
            <a:r>
              <a:t>Add refresh policy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Cleanup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Drop materialized view</a:t>
            </a:r>
          </a:p>
          <a:p>
            <a:pPr>
              <a:defRPr sz="2400"/>
            </a:pPr>
            <a:r>
              <a:t>Drop table &amp; schema</a:t>
            </a:r>
          </a:p>
          <a:p>
            <a:pPr>
              <a:defRPr sz="2400"/>
            </a:pPr>
            <a:r>
              <a:t>Drop database</a:t>
            </a:r>
          </a:p>
          <a:p>
            <a:pPr>
              <a:defRPr sz="2400"/>
            </a:pPr>
            <a:r>
              <a:t>Environment restored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