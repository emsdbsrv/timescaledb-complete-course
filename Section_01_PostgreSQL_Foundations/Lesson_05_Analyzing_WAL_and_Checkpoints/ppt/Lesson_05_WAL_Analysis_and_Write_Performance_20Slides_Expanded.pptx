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Introduction to Write-Ahead Logging.</a:t>
            </a:r>
          </a:p>
          <a:p>
            <a:pPr>
              <a:defRPr sz="2400"/>
            </a:pPr>
            <a:r>
              <a:t>WAL guarantees durability in PostgreSQL.</a:t>
            </a:r>
          </a:p>
          <a:p>
            <a:pPr>
              <a:defRPr sz="2400"/>
            </a:pPr>
            <a:r>
              <a:t>Every modification is logged before commit.</a:t>
            </a:r>
          </a:p>
          <a:p>
            <a:pPr>
              <a:defRPr sz="2400"/>
            </a:pPr>
            <a:r>
              <a:t>Crash recovery replays WAL records.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Understand pg_stat_wal view.</a:t>
            </a:r>
          </a:p>
          <a:p>
            <a:pPr>
              <a:defRPr sz="2400"/>
            </a:pPr>
            <a:r>
              <a:t>wal_records shows number of WAL records.</a:t>
            </a:r>
          </a:p>
          <a:p>
            <a:pPr>
              <a:defRPr sz="2400"/>
            </a:pPr>
            <a:r>
              <a:t>wal_bytes shows total WAL generated.</a:t>
            </a:r>
          </a:p>
          <a:p>
            <a:pPr>
              <a:defRPr sz="2400"/>
            </a:pPr>
            <a:r>
              <a:t>Monitor write pressure.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Capture baseline WAL metrics.</a:t>
            </a:r>
          </a:p>
          <a:p>
            <a:pPr>
              <a:defRPr sz="2400"/>
            </a:pPr>
            <a:r>
              <a:t>Record wal_bytes before workload.</a:t>
            </a:r>
          </a:p>
          <a:p>
            <a:pPr>
              <a:defRPr sz="2400"/>
            </a:pPr>
            <a:r>
              <a:t>Establish reference point.</a:t>
            </a:r>
          </a:p>
          <a:p>
            <a:pPr>
              <a:defRPr sz="2400"/>
            </a:pPr>
            <a:r>
              <a:t>Prepare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Create write-heavy hypertable.</a:t>
            </a:r>
          </a:p>
          <a:p>
            <a:pPr>
              <a:defRPr sz="2400"/>
            </a:pPr>
            <a:r>
              <a:t>Composite primary key includes time column.</a:t>
            </a:r>
          </a:p>
          <a:p>
            <a:pPr>
              <a:defRPr sz="2400"/>
            </a:pPr>
            <a:r>
              <a:t>Avoid partitioning constraint errors.</a:t>
            </a:r>
          </a:p>
          <a:p>
            <a:pPr>
              <a:defRPr sz="2400"/>
            </a:pPr>
            <a:r>
              <a:t>Enable Timescale partitioning.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Insert 1,000,000 rows.</a:t>
            </a:r>
          </a:p>
          <a:p>
            <a:pPr>
              <a:defRPr sz="2400"/>
            </a:pPr>
            <a:r>
              <a:t>Simulate telemetry ingestion.</a:t>
            </a:r>
          </a:p>
          <a:p>
            <a:pPr>
              <a:defRPr sz="2400"/>
            </a:pPr>
            <a:r>
              <a:t>Use generate_series.</a:t>
            </a:r>
          </a:p>
          <a:p>
            <a:pPr>
              <a:defRPr sz="2400"/>
            </a:pPr>
            <a:r>
              <a:t>Observe WAL growth.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Measure WAL after insert.</a:t>
            </a:r>
          </a:p>
          <a:p>
            <a:pPr>
              <a:defRPr sz="2400"/>
            </a:pPr>
            <a:r>
              <a:t>Compare wal_bytes.</a:t>
            </a:r>
          </a:p>
          <a:p>
            <a:pPr>
              <a:defRPr sz="2400"/>
            </a:pPr>
            <a:r>
              <a:t>Calculate difference.</a:t>
            </a:r>
          </a:p>
          <a:p>
            <a:pPr>
              <a:defRPr sz="2400"/>
            </a:pPr>
            <a:r>
              <a:t>Estimate IO impact.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Inspect pg_stat_bgwriter.</a:t>
            </a:r>
          </a:p>
          <a:p>
            <a:pPr>
              <a:defRPr sz="2400"/>
            </a:pPr>
            <a:r>
              <a:t>Monitor checkpoints.</a:t>
            </a:r>
          </a:p>
          <a:p>
            <a:pPr>
              <a:defRPr sz="2400"/>
            </a:pPr>
            <a:r>
              <a:t>Track buffer writes.</a:t>
            </a:r>
          </a:p>
          <a:p>
            <a:pPr>
              <a:defRPr sz="2400"/>
            </a:pPr>
            <a:r>
              <a:t>Analyze background 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Force CHECKPOINT.</a:t>
            </a:r>
          </a:p>
          <a:p>
            <a:pPr>
              <a:defRPr sz="2400"/>
            </a:pPr>
            <a:r>
              <a:t>Flush dirty buffers.</a:t>
            </a:r>
          </a:p>
          <a:p>
            <a:pPr>
              <a:defRPr sz="2400"/>
            </a:pPr>
            <a:r>
              <a:t>Reduce recovery time.</a:t>
            </a:r>
          </a:p>
          <a:p>
            <a:pPr>
              <a:defRPr sz="2400"/>
            </a:pPr>
            <a:r>
              <a:t>Observe system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Run EXPLAIN ANALYZE.</a:t>
            </a:r>
          </a:p>
          <a:p>
            <a:pPr>
              <a:defRPr sz="2400"/>
            </a:pPr>
            <a:r>
              <a:t>Check chunk pruning.</a:t>
            </a:r>
          </a:p>
          <a:p>
            <a:pPr>
              <a:defRPr sz="2400"/>
            </a:pPr>
            <a:r>
              <a:t>Confirm index usage.</a:t>
            </a:r>
          </a:p>
          <a:p>
            <a:pPr>
              <a:defRPr sz="2400"/>
            </a:pPr>
            <a:r>
              <a:t>Measure execution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Compare INSERT vs COPY.</a:t>
            </a:r>
          </a:p>
          <a:p>
            <a:pPr>
              <a:defRPr sz="2400"/>
            </a:pPr>
            <a:r>
              <a:t>COPY reduces overhead.</a:t>
            </a:r>
          </a:p>
          <a:p>
            <a:pPr>
              <a:defRPr sz="2400"/>
            </a:pPr>
            <a:r>
              <a:t>Improves throughput.</a:t>
            </a:r>
          </a:p>
          <a:p>
            <a:pPr>
              <a:defRPr sz="2400"/>
            </a:pPr>
            <a:r>
              <a:t>Better for bulk loads.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Tune wal_buffers.</a:t>
            </a:r>
          </a:p>
          <a:p>
            <a:pPr>
              <a:defRPr sz="2400"/>
            </a:pPr>
            <a:r>
              <a:t>Adjust memory allocation.</a:t>
            </a:r>
          </a:p>
          <a:p>
            <a:pPr>
              <a:defRPr sz="2400"/>
            </a:pPr>
            <a:r>
              <a:t>Reduce WAL stalls.</a:t>
            </a:r>
          </a:p>
          <a:p>
            <a:pPr>
              <a:defRPr sz="2400"/>
            </a:pPr>
            <a:r>
              <a:t>Monitor performance.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Adjust checkpoint settings.</a:t>
            </a:r>
          </a:p>
          <a:p>
            <a:pPr>
              <a:defRPr sz="2400"/>
            </a:pPr>
            <a:r>
              <a:t>Tune checkpoint_timeout.</a:t>
            </a:r>
          </a:p>
          <a:p>
            <a:pPr>
              <a:defRPr sz="2400"/>
            </a:pPr>
            <a:r>
              <a:t>Balance IO load.</a:t>
            </a:r>
          </a:p>
          <a:p>
            <a:pPr>
              <a:defRPr sz="2400"/>
            </a:pPr>
            <a:r>
              <a:t>Optimize durability.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Monitor pg_stat_activity.</a:t>
            </a:r>
          </a:p>
          <a:p>
            <a:pPr>
              <a:defRPr sz="2400"/>
            </a:pPr>
            <a:r>
              <a:t>Detect blocking sessions.</a:t>
            </a:r>
          </a:p>
          <a:p>
            <a:pPr>
              <a:defRPr sz="2400"/>
            </a:pPr>
            <a:r>
              <a:t>Prevent write bottlenecks.</a:t>
            </a:r>
          </a:p>
          <a:p>
            <a:pPr>
              <a:defRPr sz="2400"/>
            </a:pPr>
            <a:r>
              <a:t>Ensure smooth ingestion.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Enable compression.</a:t>
            </a:r>
          </a:p>
          <a:p>
            <a:pPr>
              <a:defRPr sz="2400"/>
            </a:pPr>
            <a:r>
              <a:t>Reduce disk usage.</a:t>
            </a:r>
          </a:p>
          <a:p>
            <a:pPr>
              <a:defRPr sz="2400"/>
            </a:pPr>
            <a:r>
              <a:t>Improve storage efficiency.</a:t>
            </a:r>
          </a:p>
          <a:p>
            <a:pPr>
              <a:defRPr sz="2400"/>
            </a:pPr>
            <a:r>
              <a:t>Background compression workers.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Add retention policy.</a:t>
            </a:r>
          </a:p>
          <a:p>
            <a:pPr>
              <a:defRPr sz="2400"/>
            </a:pPr>
            <a:r>
              <a:t>Automatically remove old data.</a:t>
            </a:r>
          </a:p>
          <a:p>
            <a:pPr>
              <a:defRPr sz="2400"/>
            </a:pPr>
            <a:r>
              <a:t>Maintain storage limits.</a:t>
            </a:r>
          </a:p>
          <a:p>
            <a:pPr>
              <a:defRPr sz="2400"/>
            </a:pPr>
            <a:r>
              <a:t>Ensure performance stability.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Understand WAL recycling.</a:t>
            </a:r>
          </a:p>
          <a:p>
            <a:pPr>
              <a:defRPr sz="2400"/>
            </a:pPr>
            <a:r>
              <a:t>Segments reused automatically.</a:t>
            </a:r>
          </a:p>
          <a:p>
            <a:pPr>
              <a:defRPr sz="2400"/>
            </a:pPr>
            <a:r>
              <a:t>Controlled by wal_keep_size.</a:t>
            </a:r>
          </a:p>
          <a:p>
            <a:pPr>
              <a:defRPr sz="2400"/>
            </a:pPr>
            <a:r>
              <a:t>Important for replication.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Check pg_wal directory size.</a:t>
            </a:r>
          </a:p>
          <a:p>
            <a:pPr>
              <a:defRPr sz="2400"/>
            </a:pPr>
            <a:r>
              <a:t>Measure disk growth.</a:t>
            </a:r>
          </a:p>
          <a:p>
            <a:pPr>
              <a:defRPr sz="2400"/>
            </a:pPr>
            <a:r>
              <a:t>Estimate IO cost.</a:t>
            </a:r>
          </a:p>
          <a:p>
            <a:pPr>
              <a:defRPr sz="2400"/>
            </a:pPr>
            <a:r>
              <a:t>Plan capacity.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Insert additional 500k rows.</a:t>
            </a:r>
          </a:p>
          <a:p>
            <a:pPr>
              <a:defRPr sz="2400"/>
            </a:pPr>
            <a:r>
              <a:t>Re-measure WAL.</a:t>
            </a:r>
          </a:p>
          <a:p>
            <a:pPr>
              <a:defRPr sz="2400"/>
            </a:pPr>
            <a:r>
              <a:t>Compare performance.</a:t>
            </a:r>
          </a:p>
          <a:p>
            <a:pPr>
              <a:defRPr sz="2400"/>
            </a:pPr>
            <a:r>
              <a:t>Analyze trend.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Cleanup lab.</a:t>
            </a:r>
          </a:p>
          <a:p>
            <a:pPr>
              <a:defRPr sz="2400"/>
            </a:pPr>
            <a:r>
              <a:t>Drop test database.</a:t>
            </a:r>
          </a:p>
          <a:p>
            <a:pPr>
              <a:defRPr sz="2400"/>
            </a:pPr>
            <a:r>
              <a:t>Ensure clean state.</a:t>
            </a:r>
          </a:p>
          <a:p>
            <a:pPr>
              <a:defRPr sz="2400"/>
            </a:pPr>
            <a:r>
              <a:t>Prepare next lab.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Lesson 05 – WAL Analysis and Write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Summary.</a:t>
            </a:r>
          </a:p>
          <a:p>
            <a:pPr>
              <a:defRPr sz="2400"/>
            </a:pPr>
            <a:r>
              <a:t>WAL ensures durability.</a:t>
            </a:r>
          </a:p>
          <a:p>
            <a:pPr>
              <a:defRPr sz="2400"/>
            </a:pPr>
            <a:r>
              <a:t>Heavy writes increase WAL.</a:t>
            </a:r>
          </a:p>
          <a:p>
            <a:pPr>
              <a:defRPr sz="2400"/>
            </a:pPr>
            <a:r>
              <a:t>Proper tuning maintains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